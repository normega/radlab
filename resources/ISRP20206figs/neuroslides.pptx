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93" r:id="rId3"/>
    <p:sldId id="594" r:id="rId4"/>
    <p:sldId id="597" r:id="rId5"/>
    <p:sldId id="5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2815-BB22-5B2B-B1C7-5D1214916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C453B-6961-3F94-BFC5-60A63769E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8175E-EEC2-55EE-2723-3CBA617B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5B5E0-D976-9992-650A-50985B81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9E12-441F-BB77-0069-CB84C467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986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1DDE-E2B1-364A-5CC3-2B46173A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6177F-5DC2-3B8D-8F9A-3744E022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707C8-9FC9-76F8-BD9E-AA03E634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166B-A4E9-802D-577B-854FFB5D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0DD15-B82B-6C12-E1D3-C249A1B4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487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57E8-31B2-3691-2C53-6F2BC340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DFD80-B1AC-D613-67BC-F44C20316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12DE3-260C-B324-DD0A-BB42E1DC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CD66A-0B8C-AA6A-5AA3-99739891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41A3-7B19-E5B4-A181-D8C99F18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475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6C3E-388C-7C94-7A88-EF1A7EF2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DEF7-A74D-6B20-6B54-10A6C4AD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8035C-EA93-DB52-8109-E57937A1C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ECFC9-3D97-C9AE-3008-60044130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BAEDB-0E9E-02EE-B646-3D440CCE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DD794-D3C5-0F71-2A3A-B58AB2C6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610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4BC5-E618-DCA6-2AD9-F945240E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7DA6-E9B4-75B9-705E-10AF571AB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6617F-A352-26AB-D943-5BABAE4EC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AF312-4C3C-2677-0855-1683CB262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A6BD8-2726-F3C3-A547-AEAF8163A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8994C-9062-3754-C09A-48A9AFDF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34C9F-60D6-E23C-0AD6-2CCF82911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7CB46-B444-D42A-4E12-76515701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305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FC3-B94C-4872-A20A-587DFA18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AC450B-4D69-C0C8-D068-D439E520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D67C7-56F5-3EF8-A47B-344DFE2F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1034B-197F-3728-51EE-90A7F976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939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B6FF4-1AFF-0849-1471-84CBA591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721C8-6411-5669-97CB-F1D3A913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6AECF-57C9-478C-B445-DBA7C2C0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090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4C50-6183-0335-81FF-FCEF4926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2377-6915-DA10-6D23-6D120426C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D11A0-FE63-EF46-DDC3-97DC0EC95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E5FE2-5853-A08E-6868-301DDE52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3F084-021E-D68A-659B-48EA6658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7FF52-7CE6-D679-DAE4-A283E48B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53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E6AD-66C1-BA25-4E05-7604BAFD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B1D32-08F5-7F67-DA44-E5CD4C81D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F01D8-4D5F-615D-A570-33DDCDB6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7118D-FA4F-00BA-A786-A2CC545E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1CBF4-7BD4-3FD4-5B98-C4D75437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703B8-4A6D-CDFF-42BD-3E163AD4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68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08EF-4B39-B6F2-612A-413FCC4C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0798A-CB43-9998-40E5-2A3E6C80E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4F12A-42D7-2B8B-DD18-4B54C59D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2332E-742C-FD0C-9AE3-23BB19C5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12654-AD39-C9D1-1E41-40648E36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498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CD267-7DCB-5593-957D-AF7258945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860CA-BD41-62DA-00D5-B76283FFB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0E6AC-EC84-02C8-A3BE-55AB54AC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E474-5678-3BB5-8EF2-6FD64B2A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97BCE-BB16-81D0-107A-2819208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500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467D0-935D-75C8-3FEF-AB058414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88DA1-93FD-3A7A-477C-651BDB0B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6BE7D-D0BA-92CE-5133-B95431963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F6660-6C67-4BD5-A90B-C29CE37F536C}" type="datetimeFigureOut">
              <a:rPr lang="en-CA" smtClean="0"/>
              <a:t>2026-07-06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FC3E3-BD76-34DE-FB11-437D537F9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F5A0C-A1A1-232F-68D2-0264516AF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67EDA-E55C-4522-BBB1-A041CBF0D3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04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2;p20">
            <a:extLst>
              <a:ext uri="{FF2B5EF4-FFF2-40B4-BE49-F238E27FC236}">
                <a16:creationId xmlns:a16="http://schemas.microsoft.com/office/drawing/2014/main" id="{017BAD78-C9FC-F2E3-6324-BAE8031EBDDC}"/>
              </a:ext>
            </a:extLst>
          </p:cNvPr>
          <p:cNvSpPr txBox="1"/>
          <p:nvPr/>
        </p:nvSpPr>
        <p:spPr>
          <a:xfrm>
            <a:off x="276490" y="169525"/>
            <a:ext cx="115542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4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Montserrat ExtraBold"/>
                <a:cs typeface="Montserrat ExtraBold"/>
                <a:sym typeface="Montserrat ExtraBold"/>
              </a:rPr>
              <a:t>What About Sensation Predicts Flourishing?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4711E0-064A-E51F-257F-991CBEBA6269}"/>
              </a:ext>
            </a:extLst>
          </p:cNvPr>
          <p:cNvGrpSpPr/>
          <p:nvPr/>
        </p:nvGrpSpPr>
        <p:grpSpPr>
          <a:xfrm>
            <a:off x="1843199" y="1027070"/>
            <a:ext cx="5328495" cy="5661405"/>
            <a:chOff x="242965" y="1179904"/>
            <a:chExt cx="5126477" cy="54467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E4A6A1C-E5B3-A064-6788-4217F1CA8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5033"/>
            <a:stretch/>
          </p:blipFill>
          <p:spPr>
            <a:xfrm>
              <a:off x="242965" y="1179904"/>
              <a:ext cx="5126477" cy="544676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D922B7-6E22-EF16-0053-5327ABA41C9E}"/>
                </a:ext>
              </a:extLst>
            </p:cNvPr>
            <p:cNvSpPr txBox="1"/>
            <p:nvPr/>
          </p:nvSpPr>
          <p:spPr>
            <a:xfrm>
              <a:off x="242965" y="1222436"/>
              <a:ext cx="51264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Multidimensional Assessment of Interoceptive Awareness </a:t>
              </a:r>
              <a:endParaRPr lang="en-CA" sz="1400" b="1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29FCDC-067E-5F11-D4EB-5A2BD9A09625}"/>
              </a:ext>
            </a:extLst>
          </p:cNvPr>
          <p:cNvGrpSpPr/>
          <p:nvPr/>
        </p:nvGrpSpPr>
        <p:grpSpPr>
          <a:xfrm>
            <a:off x="8539301" y="2217576"/>
            <a:ext cx="2287806" cy="3280393"/>
            <a:chOff x="8539301" y="2567135"/>
            <a:chExt cx="2287806" cy="3280393"/>
          </a:xfrm>
        </p:grpSpPr>
        <p:pic>
          <p:nvPicPr>
            <p:cNvPr id="11" name="Picture 10" descr="A person smiling for the camera&#10;&#10;Description automatically generated with low confidence">
              <a:extLst>
                <a:ext uri="{FF2B5EF4-FFF2-40B4-BE49-F238E27FC236}">
                  <a16:creationId xmlns:a16="http://schemas.microsoft.com/office/drawing/2014/main" id="{247CC5B4-E9D7-CFE6-C6EC-7E83325F3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97379" y="2567135"/>
              <a:ext cx="1771650" cy="25812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E4A4EB-C33A-28DF-8882-5DFD7154AA47}"/>
                </a:ext>
              </a:extLst>
            </p:cNvPr>
            <p:cNvSpPr txBox="1"/>
            <p:nvPr/>
          </p:nvSpPr>
          <p:spPr>
            <a:xfrm>
              <a:off x="8539301" y="5201197"/>
              <a:ext cx="22878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Wolf </a:t>
              </a:r>
              <a:r>
                <a:rPr lang="en-CA" dirty="0" err="1">
                  <a:solidFill>
                    <a:schemeClr val="bg1"/>
                  </a:solidFill>
                </a:rPr>
                <a:t>Mehling</a:t>
              </a:r>
              <a:endParaRPr lang="en-CA" dirty="0">
                <a:solidFill>
                  <a:schemeClr val="bg1"/>
                </a:solidFill>
              </a:endParaRPr>
            </a:p>
            <a:p>
              <a:pPr algn="ctr"/>
              <a:r>
                <a:rPr lang="en-CA" dirty="0">
                  <a:solidFill>
                    <a:schemeClr val="bg1"/>
                  </a:solidFill>
                </a:rPr>
                <a:t>(Author of the MAIA)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0FAA6A10-1D27-05C9-CA97-0D8D03E3126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1247"/>
          <a:stretch/>
        </p:blipFill>
        <p:spPr>
          <a:xfrm>
            <a:off x="68492" y="3132443"/>
            <a:ext cx="1634489" cy="14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03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4C710DE2-1228-4B16-685C-44F57C3D8C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45"/>
          <a:stretch/>
        </p:blipFill>
        <p:spPr>
          <a:xfrm>
            <a:off x="1417321" y="1565632"/>
            <a:ext cx="9357358" cy="4797722"/>
          </a:xfrm>
          <a:prstGeom prst="rect">
            <a:avLst/>
          </a:prstGeom>
        </p:spPr>
      </p:pic>
      <p:sp>
        <p:nvSpPr>
          <p:cNvPr id="12" name="Google Shape;142;p20">
            <a:extLst>
              <a:ext uri="{FF2B5EF4-FFF2-40B4-BE49-F238E27FC236}">
                <a16:creationId xmlns:a16="http://schemas.microsoft.com/office/drawing/2014/main" id="{D9ED40F0-0024-19C1-C09D-7F069B6FE8EF}"/>
              </a:ext>
            </a:extLst>
          </p:cNvPr>
          <p:cNvSpPr txBox="1"/>
          <p:nvPr/>
        </p:nvSpPr>
        <p:spPr>
          <a:xfrm>
            <a:off x="276490" y="396508"/>
            <a:ext cx="1158813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3600" b="1" i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Montserrat ExtraBold"/>
                <a:sym typeface="Montserrat ExtraBold"/>
              </a:rPr>
              <a:t>Greater Awareness</a:t>
            </a:r>
            <a:r>
              <a:rPr lang="en" sz="3600" b="1" kern="0" dirty="0">
                <a:latin typeface="Verdana" panose="020B0604030504040204" pitchFamily="34" charset="0"/>
                <a:ea typeface="Verdana" panose="020B0604030504040204" pitchFamily="34" charset="0"/>
                <a:cs typeface="Montserrat ExtraBold"/>
                <a:sym typeface="Montserrat ExtraBold"/>
              </a:rPr>
              <a:t>: Selectively Spared Inhibition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Montserrat ExtraBold"/>
              <a:sym typeface="Montserrat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176FB-C329-0A1C-7D25-FB42F5671F7B}"/>
              </a:ext>
            </a:extLst>
          </p:cNvPr>
          <p:cNvSpPr txBox="1"/>
          <p:nvPr/>
        </p:nvSpPr>
        <p:spPr>
          <a:xfrm>
            <a:off x="7184257" y="6485703"/>
            <a:ext cx="4997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CA" dirty="0">
                <a:solidFill>
                  <a:schemeClr val="bg1"/>
                </a:solidFill>
              </a:rPr>
              <a:t>Farb, </a:t>
            </a:r>
            <a:r>
              <a:rPr lang="en-CA" dirty="0" err="1">
                <a:solidFill>
                  <a:schemeClr val="bg1"/>
                </a:solidFill>
              </a:rPr>
              <a:t>Zuo</a:t>
            </a:r>
            <a:r>
              <a:rPr lang="en-CA" dirty="0">
                <a:solidFill>
                  <a:schemeClr val="bg1"/>
                </a:solidFill>
              </a:rPr>
              <a:t>, &amp; Price, </a:t>
            </a:r>
            <a:r>
              <a:rPr lang="en-CA" i="1" dirty="0" err="1">
                <a:solidFill>
                  <a:schemeClr val="bg1"/>
                </a:solidFill>
              </a:rPr>
              <a:t>eNeuro</a:t>
            </a:r>
            <a:r>
              <a:rPr lang="en-CA" i="1" dirty="0">
                <a:solidFill>
                  <a:schemeClr val="bg1"/>
                </a:solidFill>
              </a:rPr>
              <a:t>, </a:t>
            </a:r>
            <a:r>
              <a:rPr lang="en-CA" dirty="0">
                <a:solidFill>
                  <a:schemeClr val="bg1"/>
                </a:solidFill>
              </a:rPr>
              <a:t>2023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99C6EE3-F17B-70EF-48D5-9FA28959F76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247"/>
          <a:stretch/>
        </p:blipFill>
        <p:spPr>
          <a:xfrm>
            <a:off x="10774679" y="2858263"/>
            <a:ext cx="1634489" cy="14506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9925DE-113B-8883-78CC-9C2259298F47}"/>
              </a:ext>
            </a:extLst>
          </p:cNvPr>
          <p:cNvSpPr txBox="1"/>
          <p:nvPr/>
        </p:nvSpPr>
        <p:spPr>
          <a:xfrm>
            <a:off x="8160969" y="1616332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r(42) = -.32, p = .03</a:t>
            </a:r>
          </a:p>
        </p:txBody>
      </p:sp>
    </p:spTree>
    <p:extLst>
      <p:ext uri="{BB962C8B-B14F-4D97-AF65-F5344CB8AC3E}">
        <p14:creationId xmlns:p14="http://schemas.microsoft.com/office/powerpoint/2010/main" val="86467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49319347-78F0-42E9-89EF-75673BA3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50" y="1469876"/>
            <a:ext cx="9185900" cy="5044715"/>
          </a:xfrm>
          <a:prstGeom prst="rect">
            <a:avLst/>
          </a:prstGeom>
        </p:spPr>
      </p:pic>
      <p:sp>
        <p:nvSpPr>
          <p:cNvPr id="5" name="Google Shape;142;p20">
            <a:extLst>
              <a:ext uri="{FF2B5EF4-FFF2-40B4-BE49-F238E27FC236}">
                <a16:creationId xmlns:a16="http://schemas.microsoft.com/office/drawing/2014/main" id="{A1D75126-4BBF-8AB8-9AB9-702147BCDB83}"/>
              </a:ext>
            </a:extLst>
          </p:cNvPr>
          <p:cNvSpPr txBox="1"/>
          <p:nvPr/>
        </p:nvSpPr>
        <p:spPr>
          <a:xfrm>
            <a:off x="276490" y="169525"/>
            <a:ext cx="1158813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Montserrat ExtraBold"/>
                <a:sym typeface="Montserrat ExtraBold"/>
              </a:rPr>
              <a:t>Greater Connections with Executive Network and Language Regions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Montserrat ExtraBold"/>
              <a:sym typeface="Montserrat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20D61-7723-B0EC-B6B4-35CDA6CF517F}"/>
              </a:ext>
            </a:extLst>
          </p:cNvPr>
          <p:cNvSpPr txBox="1"/>
          <p:nvPr/>
        </p:nvSpPr>
        <p:spPr>
          <a:xfrm>
            <a:off x="7194697" y="6485703"/>
            <a:ext cx="4997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CA" dirty="0">
                <a:solidFill>
                  <a:schemeClr val="bg1"/>
                </a:solidFill>
              </a:rPr>
              <a:t>Farb, </a:t>
            </a:r>
            <a:r>
              <a:rPr lang="en-CA" dirty="0" err="1">
                <a:solidFill>
                  <a:schemeClr val="bg1"/>
                </a:solidFill>
              </a:rPr>
              <a:t>Zuo</a:t>
            </a:r>
            <a:r>
              <a:rPr lang="en-CA" dirty="0">
                <a:solidFill>
                  <a:schemeClr val="bg1"/>
                </a:solidFill>
              </a:rPr>
              <a:t>, &amp; Price, </a:t>
            </a:r>
            <a:r>
              <a:rPr lang="en-CA" i="1" dirty="0" err="1">
                <a:solidFill>
                  <a:schemeClr val="bg1"/>
                </a:solidFill>
              </a:rPr>
              <a:t>eNeuro</a:t>
            </a:r>
            <a:r>
              <a:rPr lang="en-CA" i="1" dirty="0">
                <a:solidFill>
                  <a:schemeClr val="bg1"/>
                </a:solidFill>
              </a:rPr>
              <a:t>, </a:t>
            </a:r>
            <a:r>
              <a:rPr lang="en-CA" dirty="0">
                <a:solidFill>
                  <a:schemeClr val="bg1"/>
                </a:solidFill>
              </a:rPr>
              <a:t>2023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6CC0366-1E10-7F8F-CA1D-F6CB229A1EC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247"/>
          <a:stretch/>
        </p:blipFill>
        <p:spPr>
          <a:xfrm>
            <a:off x="10688950" y="90511"/>
            <a:ext cx="1634489" cy="14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7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FA30BE02-7F2D-14F2-A327-662EE839C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72" y="1131638"/>
            <a:ext cx="9856856" cy="435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5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74009-02C7-1748-69E5-9512360E4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604" y="468837"/>
            <a:ext cx="5762398" cy="59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9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Norman Farb</dc:creator>
  <cp:lastModifiedBy>Norman Farb</cp:lastModifiedBy>
  <cp:revision>1</cp:revision>
  <dcterms:created xsi:type="dcterms:W3CDTF">2026-07-06T21:24:23Z</dcterms:created>
  <dcterms:modified xsi:type="dcterms:W3CDTF">2026-07-06T21:31:56Z</dcterms:modified>
</cp:coreProperties>
</file>